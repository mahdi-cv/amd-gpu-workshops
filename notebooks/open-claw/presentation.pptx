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C7101-954A-D531-875F-D6929298EB9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47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01A"/>
                </a:solidFill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</a:rPr>
              <a:t>Build Your Own
AI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337560"/>
            <a:ext cx="1097280" cy="54864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</a:rPr>
              <a:t>From LLMs to Autonomous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36329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</a:rPr>
              <a:t>AMD GPUs  ·  Open-Weight Models  ·  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  <p:pic>
        <p:nvPicPr>
          <p:cNvPr id="15" name="Content Placeholder 5">
            <a:extLst>
              <a:ext uri="{FF2B5EF4-FFF2-40B4-BE49-F238E27FC236}">
                <a16:creationId xmlns:a16="http://schemas.microsoft.com/office/drawing/2014/main" id="{2083671C-BF93-23E7-A460-EBB9F456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79" t="4697" r="-1579" b="5042"/>
          <a:stretch>
            <a:fillRect/>
          </a:stretch>
        </p:blipFill>
        <p:spPr>
          <a:xfrm>
            <a:off x="5855845" y="427725"/>
            <a:ext cx="2560320" cy="29464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CCEC74-6EAC-C909-AED6-EDB6689E4837}"/>
              </a:ext>
            </a:extLst>
          </p:cNvPr>
          <p:cNvSpPr txBox="1"/>
          <p:nvPr/>
        </p:nvSpPr>
        <p:spPr>
          <a:xfrm>
            <a:off x="8587791" y="3451566"/>
            <a:ext cx="3984581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2400" dirty="0">
                <a:latin typeface="Klavika Condensed" panose="020B0506040000020004" pitchFamily="34" charset="0"/>
              </a:rPr>
              <a:t>Eda Zhou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2400" dirty="0">
                <a:latin typeface="Klavika Condensed" panose="020B0506040000020004" pitchFamily="34" charset="0"/>
              </a:rPr>
              <a:t>Senior Software Engineer (AI)</a:t>
            </a:r>
          </a:p>
          <a:p>
            <a:pPr algn="ctr">
              <a:buClr>
                <a:schemeClr val="accent1"/>
              </a:buClr>
              <a:buSzPct val="60000"/>
            </a:pPr>
            <a:endParaRPr lang="en-US" sz="2400" dirty="0">
              <a:latin typeface="Klavika Condensed" panose="020B05060400000200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D397B3-875A-06BA-8326-F67F6019BB5E}"/>
              </a:ext>
            </a:extLst>
          </p:cNvPr>
          <p:cNvSpPr txBox="1"/>
          <p:nvPr/>
        </p:nvSpPr>
        <p:spPr>
          <a:xfrm>
            <a:off x="5297127" y="3488142"/>
            <a:ext cx="367775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2400" dirty="0">
                <a:latin typeface="Klavika Condensed" panose="020B0506040000020004" pitchFamily="34" charset="0"/>
              </a:rPr>
              <a:t>Mahdi Ghodsi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2400" dirty="0">
                <a:latin typeface="Klavika Condensed" panose="020B0506040000020004" pitchFamily="34" charset="0"/>
              </a:rPr>
              <a:t>AI Solution Architect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83DA8D-B3B6-3EBF-6775-05D2D00F5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6" t="4467" r="16521" b="25201"/>
          <a:stretch>
            <a:fillRect/>
          </a:stretch>
        </p:blipFill>
        <p:spPr>
          <a:xfrm>
            <a:off x="9339111" y="427725"/>
            <a:ext cx="2481943" cy="2957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7611EF-C07D-E958-4284-C70CDD128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11" y="4373990"/>
            <a:ext cx="1927589" cy="19275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5EDFB7-E33C-C578-F7EA-A00FB16527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1" t="791" r="791" b="791"/>
          <a:stretch>
            <a:fillRect/>
          </a:stretch>
        </p:blipFill>
        <p:spPr>
          <a:xfrm>
            <a:off x="9613051" y="4337415"/>
            <a:ext cx="1927589" cy="1927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What is an LLM?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11111"/>
                </a:solidFill>
              </a:rPr>
              <a:t>A model trained on a large amount of text.</a:t>
            </a:r>
          </a:p>
          <a:p>
            <a:r>
              <a:rPr sz="1800" b="0" i="0">
                <a:solidFill>
                  <a:srgbClr val="111111"/>
                </a:solidFill>
              </a:rPr>
              <a:t>Given a prompt, it predicts the next tokens and produces a response.</a:t>
            </a:r>
          </a:p>
          <a:p>
            <a:r>
              <a:rPr sz="1800" b="0" i="0">
                <a:solidFill>
                  <a:srgbClr val="111111"/>
                </a:solidFill>
              </a:rPr>
              <a:t>By itself, it is a text-generation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What it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53629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Answer questions</a:t>
            </a:r>
          </a:p>
          <a:p>
            <a:r>
              <a:rPr sz="1700" b="0" i="0">
                <a:solidFill>
                  <a:srgbClr val="111111"/>
                </a:solidFill>
              </a:rPr>
              <a:t>• Summarize, translate, classify text</a:t>
            </a:r>
          </a:p>
          <a:p>
            <a:r>
              <a:rPr sz="1700" b="0" i="0">
                <a:solidFill>
                  <a:srgbClr val="111111"/>
                </a:solidFill>
              </a:rPr>
              <a:t>• Generate and explain code</a:t>
            </a:r>
          </a:p>
          <a:p>
            <a:r>
              <a:rPr sz="1700" b="0" i="0">
                <a:solidFill>
                  <a:srgbClr val="111111"/>
                </a:solidFill>
              </a:rPr>
              <a:t>• Transform or rewrite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7356" y="187452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What it cannot do by itself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2221992"/>
            <a:ext cx="53629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Act on external systems</a:t>
            </a:r>
          </a:p>
          <a:p>
            <a:r>
              <a:rPr sz="1700" b="0" i="0">
                <a:solidFill>
                  <a:srgbClr val="111111"/>
                </a:solidFill>
              </a:rPr>
              <a:t>• Maintain persistent memory</a:t>
            </a:r>
          </a:p>
          <a:p>
            <a:r>
              <a:rPr sz="1700" b="0" i="0">
                <a:solidFill>
                  <a:srgbClr val="111111"/>
                </a:solidFill>
              </a:rPr>
              <a:t>• Manage a multi-step process</a:t>
            </a:r>
          </a:p>
          <a:p>
            <a:r>
              <a:rPr sz="1700" b="0" i="0">
                <a:solidFill>
                  <a:srgbClr val="111111"/>
                </a:solidFill>
              </a:rPr>
              <a:t>• Verify or correct its own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On its own, an LLM generates a response. It does not independently plan, use tools, or complete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LLM → Chatbot →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Each step adds a capability. The jump from chatbot to agent is the biggest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75304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45720" cy="32004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392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39242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44444"/>
                </a:solidFill>
              </a:rPr>
              <a:t>• Answers questions based on training data</a:t>
            </a:r>
          </a:p>
          <a:p>
            <a:r>
              <a:rPr sz="1600" b="0" i="0">
                <a:solidFill>
                  <a:srgbClr val="444444"/>
                </a:solidFill>
              </a:rPr>
              <a:t>• Every response is stateless. It has no memory of what came before.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1371600"/>
            <a:ext cx="3575304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6824" y="1371600"/>
            <a:ext cx="45720" cy="32004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3984" y="1508760"/>
            <a:ext cx="3392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</a:rPr>
              <a:t>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920240"/>
            <a:ext cx="339242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44444"/>
                </a:solidFill>
              </a:rPr>
              <a:t>• LLM + the conversation history injected as context</a:t>
            </a:r>
          </a:p>
          <a:p>
            <a:r>
              <a:rPr sz="1600" b="0" i="0">
                <a:solidFill>
                  <a:srgbClr val="444444"/>
                </a:solidFill>
              </a:rPr>
              <a:t>• Feels like it remembers (it is just reading the transcript each 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371600"/>
            <a:ext cx="3575304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1371600"/>
            <a:ext cx="45720" cy="32004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508760"/>
            <a:ext cx="3392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920240"/>
            <a:ext cx="339242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44444"/>
                </a:solidFill>
              </a:rPr>
              <a:t>• LLM + memory + planning + ability to take actions in the world</a:t>
            </a:r>
          </a:p>
          <a:p>
            <a:r>
              <a:rPr sz="1600" b="0" i="0">
                <a:solidFill>
                  <a:srgbClr val="444444"/>
                </a:solidFill>
              </a:rPr>
              <a:t>• Can run code, call APIs, read files, send messages, and loop until the task is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How Agents Think: The ReAct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926080" cy="7315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Thought
reason about what to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1001A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2926080" cy="7315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1143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Action
call a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1001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097280"/>
            <a:ext cx="2926080" cy="7315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143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Observation
read the result back into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⟳  loop repeats until the task is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86000"/>
            <a:ext cx="9720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The model decides what the next step should be based on everything it knows so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063240"/>
            <a:ext cx="9720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It calls a tool (run code, search the web, read a file, send a message)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840480"/>
            <a:ext cx="9720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The tool result comes back and the model reads it, then loops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Why the Loop Changes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Without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2715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Ask the model to fix a bug</a:t>
            </a:r>
          </a:p>
          <a:p>
            <a:r>
              <a:rPr sz="1700" b="0" i="0">
                <a:solidFill>
                  <a:srgbClr val="111111"/>
                </a:solidFill>
              </a:rPr>
              <a:t>• It proposes a fix</a:t>
            </a:r>
          </a:p>
          <a:p>
            <a:r>
              <a:rPr sz="1700" b="0" i="0">
                <a:solidFill>
                  <a:srgbClr val="111111"/>
                </a:solidFill>
              </a:rPr>
              <a:t>• You still don't know whether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8796" y="1097280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With a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8796" y="1444752"/>
            <a:ext cx="52715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Read the file</a:t>
            </a:r>
          </a:p>
          <a:p>
            <a:r>
              <a:rPr sz="1700" b="0" i="0">
                <a:solidFill>
                  <a:srgbClr val="111111"/>
                </a:solidFill>
              </a:rPr>
              <a:t>• Run the tests, see the error</a:t>
            </a:r>
          </a:p>
          <a:p>
            <a:r>
              <a:rPr sz="1700" b="0" i="0">
                <a:solidFill>
                  <a:srgbClr val="111111"/>
                </a:solidFill>
              </a:rPr>
              <a:t>• Edit the code</a:t>
            </a:r>
          </a:p>
          <a:p>
            <a:r>
              <a:rPr sz="1700" b="0" i="0">
                <a:solidFill>
                  <a:srgbClr val="111111"/>
                </a:solidFill>
              </a:rPr>
              <a:t>• Run the tests again</a:t>
            </a:r>
          </a:p>
          <a:p>
            <a:r>
              <a:rPr sz="1700" b="0" i="0">
                <a:solidFill>
                  <a:srgbClr val="111111"/>
                </a:solidFill>
              </a:rPr>
              <a:t>• Stop when verified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44444"/>
                </a:solidFill>
              </a:rPr>
              <a:t>In practice, execution, checking, and retrying are what make agents reliable.
A stronger loop often matters more than a stronger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The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The Three Components of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An agent is not just a model. It is a model inside a system with three distinct parts.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575304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45720" cy="32004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11111"/>
                </a:solidFill>
              </a:rPr>
              <a:t>①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3467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The reasoning and language engine: decides what to do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1417320"/>
            <a:ext cx="3575304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6824" y="1417320"/>
            <a:ext cx="45720" cy="32004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3984" y="1600200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11111"/>
                </a:solidFill>
              </a:rPr>
              <a:t>②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103120"/>
            <a:ext cx="33467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Manages the loop, context, tool calls, retries, and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3575304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45720" cy="32004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600200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11111"/>
                </a:solidFill>
              </a:rPr>
              <a:t>③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103120"/>
            <a:ext cx="33467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The external capabilities the agent can call: files, APIs, code execution,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Component 1: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For agent work, what matters is reliable tool calling, a long context window, and the ability to follow multi-step instructions without drifting. These open-source models all hit that bar today: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Gemma 4 (Google): multimodal, native function calling, 256K context, day-0 AMD support via vLLM and SGLang</a:t>
            </a:r>
          </a:p>
          <a:p>
            <a:r>
              <a:rPr sz="1600" b="0" i="0">
                <a:solidFill>
                  <a:srgbClr val="111111"/>
                </a:solidFill>
              </a:rPr>
              <a:t>• Qwen3.5 (Alibaba): 256K context, strong MCP and coding tool use</a:t>
            </a:r>
          </a:p>
          <a:p>
            <a:r>
              <a:rPr sz="1600" b="0" i="0">
                <a:solidFill>
                  <a:srgbClr val="111111"/>
                </a:solidFill>
              </a:rPr>
              <a:t>• Kimi K2.5 (Moonshot AI): MoE, 32B active parameters, long-horizon tasks</a:t>
            </a:r>
          </a:p>
          <a:p>
            <a:r>
              <a:rPr sz="1600" b="0" i="0">
                <a:solidFill>
                  <a:srgbClr val="111111"/>
                </a:solidFill>
              </a:rPr>
              <a:t>• MiniMax M2.5 (MiniMax): deep context retention</a:t>
            </a:r>
          </a:p>
          <a:p>
            <a:r>
              <a:rPr sz="1600" b="0" i="0">
                <a:solidFill>
                  <a:srgbClr val="111111"/>
                </a:solidFill>
              </a:rPr>
              <a:t>• GPT-OSS (OpenAI): open-weight reasoning, fits a single H100 or MI300X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All run on AMD MI300X. All support structured tool calls. The right choice depends on your task, context requirements, and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Component 2: The Agent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The runtime receives the prompt and context, catches the model's tool call, executes it, applies guardrails, and feeds the result back into the next turn.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send prompt  →  parse tool calls  →  run tools  →  append results  → 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Concrete runtime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Prompt assembly: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combines instructions, memory, chat history, and tool 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Tool execution: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926080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catches JSON tool calls and runs them against the real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Guardrails and recovery: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474720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approvals, retries, timeouts, fallbacks, safety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Integration layer: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023360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connects custom tools, APIs, CLIs, and MCP servers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Component 3: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 tool only becomes useful once it is described in a way the model can call: a name, a description, and a typed schema. The model sees that interface. It does not see the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Custom tools you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53629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A typed function with a name and description</a:t>
            </a:r>
          </a:p>
          <a:p>
            <a:r>
              <a:rPr sz="1600" b="0" i="0">
                <a:solidFill>
                  <a:srgbClr val="111111"/>
                </a:solidFill>
              </a:rPr>
              <a:t>• A parameter schema the model uses to call it</a:t>
            </a:r>
          </a:p>
          <a:p>
            <a:r>
              <a:rPr sz="1600" b="0" i="0">
                <a:solidFill>
                  <a:srgbClr val="111111"/>
                </a:solidFill>
              </a:rPr>
              <a:t>• Exposed to the model in its tool format at session start</a:t>
            </a:r>
          </a:p>
          <a:p>
            <a:r>
              <a:rPr sz="1600" b="0" i="0">
                <a:solidFill>
                  <a:srgbClr val="111111"/>
                </a:solidFill>
              </a:rPr>
              <a:t>• Examples: read file, send message, run query, create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7356" y="146304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External tools you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810512"/>
            <a:ext cx="53629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MCP servers: GitHub, Slack, Postgres, Stripe, Notion, Gmail</a:t>
            </a:r>
          </a:p>
          <a:p>
            <a:r>
              <a:rPr sz="1600" b="0" i="0">
                <a:solidFill>
                  <a:srgbClr val="111111"/>
                </a:solidFill>
              </a:rPr>
              <a:t>• APIs: any REST/GraphQL endpoint wrapped as a tool</a:t>
            </a:r>
          </a:p>
          <a:p>
            <a:r>
              <a:rPr sz="1600" b="0" i="0">
                <a:solidFill>
                  <a:srgbClr val="111111"/>
                </a:solidFill>
              </a:rPr>
              <a:t>• CLIs: any installed program via shell exec</a:t>
            </a:r>
          </a:p>
          <a:p>
            <a:r>
              <a:rPr sz="1600" b="0" i="0">
                <a:solidFill>
                  <a:srgbClr val="111111"/>
                </a:solidFill>
              </a:rPr>
              <a:t>• Plugins: packaged tool sets with auth and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No matter where the capability comes from, the agent only sees a structured tool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The Framework Explosion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The Framework Explosion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There was a large explosion of agent frameworks. Most of them were solving the same recurring engineering problems.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45720" cy="6858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① Loop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7708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Send → parse → run → append → repeat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91672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45720" cy="6858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② Context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94560"/>
            <a:ext cx="7708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Conversations grow until they exceed the model's memory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1091672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45720" cy="6858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③ Error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7708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Tools fail, APIs error, models timeout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11091672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45720" cy="6858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④ Observability and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749040"/>
            <a:ext cx="7708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What did the agent do? Did it work? How do you trace a failure?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Different Frameworks, Same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Each framework exposes the ReAct loop through a different abstraction. The primitives underneath are the same.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7891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Abstraction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1109167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LangChain / 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01368"/>
            <a:ext cx="7708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Chain and graph orchestration: wire steps together declaratively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11091672" cy="53035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CrewAI / AutoGen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50008"/>
            <a:ext cx="7708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Multi-agent coordination: assign roles, run parallel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1109167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986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LlamaIndex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98648"/>
            <a:ext cx="7708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Data and retrieval workflows: connectors and retrieval pipelines built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01568"/>
            <a:ext cx="11091672" cy="53035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447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Smolagents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47288"/>
            <a:ext cx="7708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Code-driven: agents write Python instead of JSON tool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87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Frameworks are a good default when you want to move fast. Building your own runtime is still a valid choice when you need precise control over execution, observability, or integration behavior.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The OpenClaw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Not a Framework: a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Most agent frameworks are libraries: you import them, write the loop, and run a script. OpenClaw is a different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Framework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53629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A library you import into your code</a:t>
            </a:r>
          </a:p>
          <a:p>
            <a:r>
              <a:rPr sz="1600" b="0" i="0">
                <a:solidFill>
                  <a:srgbClr val="111111"/>
                </a:solidFill>
              </a:rPr>
              <a:t>• You write the loop, routing, and error handling</a:t>
            </a:r>
          </a:p>
          <a:p>
            <a:r>
              <a:rPr sz="1600" b="0" i="0">
                <a:solidFill>
                  <a:srgbClr val="111111"/>
                </a:solidFill>
              </a:rPr>
              <a:t>• Runs when your script runs, stops when it ends</a:t>
            </a:r>
          </a:p>
          <a:p>
            <a:r>
              <a:rPr sz="1600" b="0" i="0">
                <a:solidFill>
                  <a:srgbClr val="111111"/>
                </a:solidFill>
              </a:rPr>
              <a:t>• One session at a time by default</a:t>
            </a:r>
          </a:p>
          <a:p>
            <a:r>
              <a:rPr sz="1600" b="0" i="0">
                <a:solidFill>
                  <a:srgbClr val="111111"/>
                </a:solidFill>
              </a:rPr>
              <a:t>• Reactive: waits for your code to call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7356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OpenClaw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719072"/>
            <a:ext cx="53629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A persistent process running on your machine</a:t>
            </a:r>
          </a:p>
          <a:p>
            <a:r>
              <a:rPr sz="1600" b="0" i="0">
                <a:solidFill>
                  <a:srgbClr val="111111"/>
                </a:solidFill>
              </a:rPr>
              <a:t>• It owns the loop, error handling, and routing</a:t>
            </a:r>
          </a:p>
          <a:p>
            <a:r>
              <a:rPr sz="1600" b="0" i="0">
                <a:solidFill>
                  <a:srgbClr val="111111"/>
                </a:solidFill>
              </a:rPr>
              <a:t>• Always running: messages, cron jobs, webhooks</a:t>
            </a:r>
          </a:p>
          <a:p>
            <a:r>
              <a:rPr sz="1600" b="0" i="0">
                <a:solidFill>
                  <a:srgbClr val="111111"/>
                </a:solidFill>
              </a:rPr>
              <a:t>• Multi-session, multi-channel, concurrent by default</a:t>
            </a:r>
          </a:p>
          <a:p>
            <a:r>
              <a:rPr sz="1600" b="0" i="0">
                <a:solidFill>
                  <a:srgbClr val="111111"/>
                </a:solidFill>
              </a:rPr>
              <a:t>• Proactive: time and events are first-class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The persistent-process model is what makes lanes, compaction, cron, self-restart, and multi-channel routing possible without glue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What Happens When You Send a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OpenClaw is an operating system for AI agents. The model provides intelligence. The gateway handles everything else, on hardware you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① Message arrives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371600"/>
            <a:ext cx="8988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From Slack, Discord, Telegram, web, iMessage, or any connected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② Session 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11680"/>
            <a:ext cx="8988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Queued per conversation. One turn at a time. No race conditions across concurrent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③ Prompt assembled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51760"/>
            <a:ext cx="8988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Bootstrap files, tool schemas, and conversation history combined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2724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④ Model generates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91840"/>
            <a:ext cx="8988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Text reply → delivered. Tool call → executed, result appended, loop continues.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673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⑤ Reply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31920"/>
            <a:ext cx="8988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Back to the originating channel. The whole stack runs on your own machine.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Proactive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Most AI assistants are reactive: wait for a message, respond, stop. OpenClaw treats time and events as inputs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What can trigger the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53629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A message from any connected channel</a:t>
            </a:r>
          </a:p>
          <a:p>
            <a:r>
              <a:rPr sz="1600" b="0" i="0">
                <a:solidFill>
                  <a:srgbClr val="111111"/>
                </a:solidFill>
              </a:rPr>
              <a:t>• A cron job: "every morning at 08:00, summarize my calendar"</a:t>
            </a:r>
          </a:p>
          <a:p>
            <a:r>
              <a:rPr sz="1600" b="0" i="0">
                <a:solidFill>
                  <a:srgbClr val="111111"/>
                </a:solidFill>
              </a:rPr>
              <a:t>• A heartbeat: timer fires, agent decides if anything needs doing</a:t>
            </a:r>
          </a:p>
          <a:p>
            <a:r>
              <a:rPr sz="1600" b="0" i="0">
                <a:solidFill>
                  <a:srgbClr val="111111"/>
                </a:solidFill>
              </a:rPr>
              <a:t>• A hook: webhook, file change, or API call wakes the agent</a:t>
            </a:r>
          </a:p>
          <a:p>
            <a:r>
              <a:rPr sz="1600" b="0" i="0">
                <a:solidFill>
                  <a:srgbClr val="111111"/>
                </a:solidFill>
              </a:rPr>
              <a:t>• Another agent: a parent or peer session sends a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7356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What this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719072"/>
            <a:ext cx="53629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The agent can initiate work without being asked</a:t>
            </a:r>
          </a:p>
          <a:p>
            <a:r>
              <a:rPr sz="1600" b="0" i="0">
                <a:solidFill>
                  <a:srgbClr val="111111"/>
                </a:solidFill>
              </a:rPr>
              <a:t>• Long-running workflows survive restarts</a:t>
            </a:r>
          </a:p>
          <a:p>
            <a:r>
              <a:rPr sz="1600" b="0" i="0">
                <a:solidFill>
                  <a:srgbClr val="111111"/>
                </a:solidFill>
              </a:rPr>
              <a:t>• Monitoring and reminders are first-class</a:t>
            </a:r>
          </a:p>
          <a:p>
            <a:r>
              <a:rPr sz="1600" b="0" i="0">
                <a:solidFill>
                  <a:srgbClr val="111111"/>
                </a:solidFill>
              </a:rPr>
              <a:t>• The heartbeat is the simplest form: fire a timer, act only if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How the Agent Wakes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44444"/>
                </a:solidFill>
              </a:rPr>
              <a:t>Every session starts with a richly structured system prompt assembled at runtime</a:t>
            </a:r>
            <a:r>
              <a:rPr lang="en-US" sz="1600" dirty="0">
                <a:solidFill>
                  <a:srgbClr val="444444"/>
                </a:solidFill>
              </a:rPr>
              <a:t>.</a:t>
            </a:r>
            <a:endParaRPr sz="1300" b="0" i="0" dirty="0">
              <a:solidFill>
                <a:srgbClr val="44444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What goes into the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53629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11111"/>
                </a:solidFill>
              </a:rPr>
              <a:t>• Tools section: every tool available this session, with schemas</a:t>
            </a:r>
          </a:p>
          <a:p>
            <a:r>
              <a:rPr sz="1500" b="0" i="0">
                <a:solidFill>
                  <a:srgbClr val="111111"/>
                </a:solidFill>
              </a:rPr>
              <a:t>• Skills catalog: names &amp; descriptions only; full content loaded on demand</a:t>
            </a:r>
          </a:p>
          <a:p>
            <a:r>
              <a:rPr sz="1500" b="0" i="0">
                <a:solidFill>
                  <a:srgbClr val="111111"/>
                </a:solidFill>
              </a:rPr>
              <a:t>• Bootstrap files injected verbatim from your workspace:</a:t>
            </a:r>
          </a:p>
          <a:p>
            <a:r>
              <a:rPr sz="1500" b="0" i="0">
                <a:solidFill>
                  <a:srgbClr val="111111"/>
                </a:solidFill>
              </a:rPr>
              <a:t>    AGENTS.md: instructions &amp; architectural rules</a:t>
            </a:r>
          </a:p>
          <a:p>
            <a:r>
              <a:rPr sz="1500" b="0" i="0">
                <a:solidFill>
                  <a:srgbClr val="111111"/>
                </a:solidFill>
              </a:rPr>
              <a:t>    SOUL.md: the agent's personality &amp; identity</a:t>
            </a:r>
          </a:p>
          <a:p>
            <a:r>
              <a:rPr sz="1500" b="0" i="0">
                <a:solidFill>
                  <a:srgbClr val="111111"/>
                </a:solidFill>
              </a:rPr>
              <a:t>    TOOLS.md: local environment: hostnames, scripts, cameras</a:t>
            </a:r>
          </a:p>
          <a:p>
            <a:r>
              <a:rPr sz="1500" b="0" i="0">
                <a:solidFill>
                  <a:srgbClr val="111111"/>
                </a:solidFill>
              </a:rPr>
              <a:t>    MEMORY.md: notes the agent wrote in previous sessions</a:t>
            </a:r>
          </a:p>
          <a:p>
            <a:r>
              <a:rPr sz="1500" b="0" i="0">
                <a:solidFill>
                  <a:srgbClr val="111111"/>
                </a:solidFill>
              </a:rPr>
              <a:t>    USER.md: information about you</a:t>
            </a:r>
          </a:p>
          <a:p>
            <a:r>
              <a:rPr sz="1500" b="0" i="0">
                <a:solidFill>
                  <a:srgbClr val="111111"/>
                </a:solidFill>
              </a:rPr>
              <a:t>• Runtime section: current date/time, host OS, model name, session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7356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719072"/>
            <a:ext cx="53629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44444"/>
                </a:solidFill>
              </a:rPr>
              <a:t>The agent doesn't need to ask what tools it has — they are already listed.
Memory and instructions are loaded before the first token is generated.
Every session is fully self-describing.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Connect Anything: MCP Plugins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OpenClaw is built to be extended. Two mechanisms let you add capabilities without touching core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629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MCP: 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An open standard for exposing tools to language models. Configure an MCP server and its full tool catalog appears in the agent's tool list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3629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11111"/>
                </a:solidFill>
              </a:rPr>
              <a:t>• GitHub, Postgres, Slack, Stripe, Notion — MCP servers exist for all of these</a:t>
            </a:r>
          </a:p>
          <a:p>
            <a:r>
              <a:rPr sz="1500" b="0" i="0">
                <a:solidFill>
                  <a:srgbClr val="111111"/>
                </a:solidFill>
              </a:rPr>
              <a:t>• Local (subprocess) or remote (HTTP), same config, same interface</a:t>
            </a:r>
          </a:p>
          <a:p>
            <a:r>
              <a:rPr sz="1500" b="0" i="0">
                <a:solidFill>
                  <a:srgbClr val="111111"/>
                </a:solidFill>
              </a:rPr>
              <a:t>• The agent can't tell the difference between an MCP tool and a native tool</a:t>
            </a:r>
          </a:p>
          <a:p>
            <a:r>
              <a:rPr sz="1500" b="0" i="0">
                <a:solidFill>
                  <a:srgbClr val="111111"/>
                </a:solidFill>
              </a:rPr>
              <a:t>• No code changes: just add a server to your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37160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Plugin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1719072"/>
            <a:ext cx="53629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Plugins are the primary extension mechanism. Each plugin declares its capabilities in a manifest and registers hooks; core never needs to know about specific providers.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2194560"/>
            <a:ext cx="53629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11111"/>
                </a:solidFill>
              </a:rPr>
              <a:t>• Model providers: add any LLM (Anthropic, OpenAI, local)</a:t>
            </a:r>
          </a:p>
          <a:p>
            <a:r>
              <a:rPr sz="1500" b="0" i="0">
                <a:solidFill>
                  <a:srgbClr val="111111"/>
                </a:solidFill>
              </a:rPr>
              <a:t>• Channel adapters: Slack, Discord, Telegram, web UI, iMessage</a:t>
            </a:r>
          </a:p>
          <a:p>
            <a:r>
              <a:rPr sz="1500" b="0" i="0">
                <a:solidFill>
                  <a:srgbClr val="111111"/>
                </a:solidFill>
              </a:rPr>
              <a:t>• Tool providers: packaged tool sets with auth and lifecycle</a:t>
            </a:r>
          </a:p>
          <a:p>
            <a:r>
              <a:rPr sz="1500" b="0" i="0">
                <a:solidFill>
                  <a:srgbClr val="111111"/>
                </a:solidFill>
              </a:rPr>
              <a:t>• Observability: logging, tracing,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The Agent Knows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1001A"/>
                </a:solidFill>
              </a:rPr>
              <a:t>BOOT.md: startup as a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Drop a BOOT.md in your workspace. The agent reads it on first start and acts on it. "Check if the camera is reachable, then ping me." No code, just markdown.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1001A"/>
                </a:solidFill>
              </a:rPr>
              <a:t>Skills load on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System prompt lists skill names only, not content. Model picks the right skill and loads it. Catalog can be huge.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1001A"/>
                </a:solidFill>
              </a:rPr>
              <a:t>Context vs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05072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Context: temporary token window. Fills up, gets compacted, continues.
Memory: plain files on disk. Survives restarts. Agent reads and writes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The Agent Can Restart Its Own 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The agent has a gateway tool. One of its actions is restart. Here is exactly what happens when it calls it: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0116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45720" cy="201168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630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agent calls gateway(action=restart, reason="updated config")
→ restart sentinel written to disk (captures channel + thread ID)
→ SIGUSR1 sent to gateway process
→ gateway marks itself draining: new requests fail fast
→ in-flight sessions allowed to finish (up to 5 min)
→ OS-level restart
→ sentinel consumed: confirmation routed back to original channel
→ queued work resumes; BOOT.md runs if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In-flight sessions survive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429000"/>
            <a:ext cx="8439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Draining waits for active turns to finish before the process exits. No work is dropped mid-execution.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Channel routing preserved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023360"/>
            <a:ext cx="8439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The sentinel captures the session key, channel, and thread ID. The restart confirmation lands in the right 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Hands-On: AMD GPU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Why AMD GPUs?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1001A"/>
                </a:solidFill>
              </a:rPr>
              <a:t>AMD Instinct MI300X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29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192 GB HBM3 unified memory</a:t>
            </a:r>
          </a:p>
          <a:p>
            <a:r>
              <a:rPr sz="1700" b="0" i="0">
                <a:solidFill>
                  <a:srgbClr val="111111"/>
                </a:solidFill>
              </a:rPr>
              <a:t>• 5.3 TB/s memory bandwidth</a:t>
            </a:r>
          </a:p>
          <a:p>
            <a:r>
              <a:rPr sz="1700" b="0" i="0">
                <a:solidFill>
                  <a:srgbClr val="111111"/>
                </a:solidFill>
              </a:rPr>
              <a:t>• 304 compute units</a:t>
            </a:r>
          </a:p>
          <a:p>
            <a:r>
              <a:rPr sz="1700" b="0" i="0">
                <a:solidFill>
                  <a:srgbClr val="111111"/>
                </a:solidFill>
              </a:rPr>
              <a:t>• ROCm open software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3629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192 GB of unified memory is enough headroom for large open-weight agent models that would not fit on any single consumer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7356" y="109728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What fits on one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444752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Qwen3.5-122B-FP8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1874520"/>
            <a:ext cx="5362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Software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2194560"/>
            <a:ext cx="53629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11111"/>
                </a:solidFill>
              </a:rPr>
              <a:t>• ROCm: open GPU compute stack</a:t>
            </a:r>
          </a:p>
          <a:p>
            <a:r>
              <a:rPr sz="1600" b="0" i="0">
                <a:solidFill>
                  <a:srgbClr val="111111"/>
                </a:solidFill>
              </a:rPr>
              <a:t>• Triton kernels run on ROCm without modification</a:t>
            </a:r>
          </a:p>
          <a:p>
            <a:r>
              <a:rPr sz="1600" b="0" i="0">
                <a:solidFill>
                  <a:srgbClr val="111111"/>
                </a:solidFill>
              </a:rPr>
              <a:t>• SGLang and vLLM both support MI300X natively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AMD Developer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</a:rPr>
              <a:t>Scan to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What you get: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$100 AMD developer cloud credits</a:t>
            </a:r>
          </a:p>
          <a:p>
            <a:r>
              <a:rPr sz="1700" b="0" i="0">
                <a:solidFill>
                  <a:srgbClr val="111111"/>
                </a:solidFill>
              </a:rPr>
              <a:t>• 1 month DeepLearning.AI Pro membership</a:t>
            </a:r>
          </a:p>
          <a:p>
            <a:r>
              <a:rPr sz="1700" b="0" i="0">
                <a:solidFill>
                  <a:srgbClr val="111111"/>
                </a:solidFill>
              </a:rPr>
              <a:t>• Monthly AMD hardware sweepstakes</a:t>
            </a:r>
          </a:p>
          <a:p>
            <a:r>
              <a:rPr sz="1700" b="0" i="0">
                <a:solidFill>
                  <a:srgbClr val="111111"/>
                </a:solidFill>
              </a:rPr>
              <a:t>• Members-only Discord server</a:t>
            </a:r>
          </a:p>
          <a:p>
            <a:r>
              <a:rPr sz="1700" b="0" i="0">
                <a:solidFill>
                  <a:srgbClr val="111111"/>
                </a:solidFill>
              </a:rPr>
              <a:t>• Technical support</a:t>
            </a:r>
          </a:p>
          <a:p>
            <a:r>
              <a:rPr sz="1700" b="0" i="0">
                <a:solidFill>
                  <a:srgbClr val="111111"/>
                </a:solidFill>
              </a:rPr>
              <a:t>• Free AI Academy classes</a:t>
            </a:r>
          </a:p>
          <a:p>
            <a:r>
              <a:rPr sz="1700" b="0" i="0">
                <a:solidFill>
                  <a:srgbClr val="111111"/>
                </a:solidFill>
              </a:rPr>
              <a:t>• Early invitation to AMD developer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Serving Open-Source Models on AMD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Both SGLang and vLLM expose an OpenAI-compatible HTTP API. OpenClaw points at that URL and the integration is identical either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Popular, production-ready inference servers with large communities</a:t>
            </a:r>
          </a:p>
          <a:p>
            <a:r>
              <a:rPr sz="1700" b="0" i="0">
                <a:solidFill>
                  <a:srgbClr val="111111"/>
                </a:solidFill>
              </a:rPr>
              <a:t>• Triton kernels run on ROCm out of the box, no modification needed</a:t>
            </a:r>
          </a:p>
          <a:p>
            <a:r>
              <a:rPr sz="1700" b="0" i="0">
                <a:solidFill>
                  <a:srgbClr val="111111"/>
                </a:solidFill>
              </a:rPr>
              <a:t>• Both have native AMD MI300X support and active ROCm testing</a:t>
            </a:r>
          </a:p>
          <a:p>
            <a:r>
              <a:rPr sz="1700" b="0" i="0">
                <a:solidFill>
                  <a:srgbClr val="111111"/>
                </a:solidFill>
              </a:rPr>
              <a:t>• Native tool-call parser flags for agent workflows</a:t>
            </a:r>
          </a:p>
          <a:p>
            <a:r>
              <a:rPr sz="1700" b="0" i="0">
                <a:solidFill>
                  <a:srgbClr val="111111"/>
                </a:solidFill>
              </a:rPr>
              <a:t>• Extensive documentation and ecosystem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Choose whichever your team already knows. From OpenClaw's perspective, they are interchangeable.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The Model: Qwen3.5-122B-FP8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Alibaba's latest, released with AMD day-0 support on MI300X, MI325X, and MI35X.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426464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11091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01368"/>
            <a:ext cx="7982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MoE + Hybrid Attention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31136"/>
            <a:ext cx="11091672" cy="4572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768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Context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76856"/>
            <a:ext cx="7982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256K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06624"/>
            <a:ext cx="11091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Quantization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52344"/>
            <a:ext cx="7982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FP8, fits one MI300X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82112"/>
            <a:ext cx="11091672" cy="4572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227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27832"/>
            <a:ext cx="7982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Apache 2.0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AMD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703320"/>
            <a:ext cx="7982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ROCm · Triton · day-0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7024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001A"/>
                </a:solidFill>
              </a:rPr>
              <a:t>Hybrid Attention Innovation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8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Gated Delta Networks switch between full attention (associative recall) and linear attention (long-range context at reduced compute). Both implemented as Triton kernels → run on ROCm without modification.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Tutorial: Launch SGLang + Connect OpenClaw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51560"/>
            <a:ext cx="10680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AMD Developer Cloud → Quick Start → SGLang image → MI300X → 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10680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Pull the Docker image:
docker pull lmsysorg/sglang:v0.5.9-rocm720-mi30x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10680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Start the server with key flags:
--model-path Qwen/Qwen3.5-122B-A10B-FP8
--attention-backend triton
--tool-call-parser qwen3_coder
--reasoning-parser qwen3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10680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Install OpenClaw → during onboarding enter:
Base URL: http://&lt;vm-ip&gt;:8090/v1
Model: qwen3-5-122b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320040" cy="32004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10680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OpenClaw connects. You now have a 122B model with 256K context window serving agent tool calls, running on MI300X hardware via a standard OpenAI-compatible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What Just Happened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Map this back to the three components from earlier: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0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44752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Qwen3.5-122B-FP8: emits structured tool calls via --tool-call-parser qwen3_coder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645920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OpenClaw assembles context, catches tool calls, executes them safely, and loops until the task is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88336"/>
            <a:ext cx="1645920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79776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61488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Custom tools · MCP servers · APIs · CLIs · all filtered through the tool policy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46704"/>
            <a:ext cx="1645920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3814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Inference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19856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SGLang serves the model as an OpenAI-compatible API on port 8090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05072"/>
            <a:ext cx="1645920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078224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One AMD MI300X, 192 GB HBM3, enough to fit the full 122B model in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Each layer is modular because the interfaces are standardized. Swap any component without touching the others.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01A"/>
                </a:solidFill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The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The Complete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User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243584"/>
            <a:ext cx="8257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From any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55648"/>
            <a:ext cx="2743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1109167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65376"/>
            <a:ext cx="8257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Slack · Discord · Telegram · Web · Signal · iMessage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40"/>
            <a:ext cx="2743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32304"/>
            <a:ext cx="11091672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OpenClaw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87168"/>
            <a:ext cx="8257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Routes to agent · manages sessions · delivers replies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99232"/>
            <a:ext cx="2743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54096"/>
            <a:ext cx="11091672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8257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ReAct loop · lane-based · tool policy · compaction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21024"/>
            <a:ext cx="2743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75888"/>
            <a:ext cx="11091672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7307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SGLang / AMD MI300X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30752"/>
            <a:ext cx="8257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Qwen3.5-122B-FP8 · 256K ctx · tool calling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42816"/>
            <a:ext cx="2743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09167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3525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352544"/>
            <a:ext cx="8257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exec · web · MCP · subagents · cron ·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2471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An LLM generates text from a prompt. It does not act, plan, or maintain state on its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1907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A chatbot adds conversation state. An agent adds tools, a control loop, and the ability to 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1343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The ReAct pattern (Thought → Action → Observation) is the core loop behind most agents.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0779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Building useful agents requires three things: a capable model, a solid runtime, and the right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215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Most frameworks wrap the same core loop with different abstractions. They differ in ergonomics, not fundamentals.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651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Open-weight models on AMD MI300X now match frontier quality. 192 GB fits models no consumer GPU can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90872"/>
            <a:ext cx="228600" cy="2286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771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The full stack (AMD GPU + SGLang + OpenClaw) is available to try for free with $100 in AMD credits.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What to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86968"/>
            <a:ext cx="11091672" cy="4572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Join the AMD Developer Program and get started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1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11111"/>
                </a:solidFill>
              </a:rPr>
              <a:t>• $100 AMD developer cloud credits</a:t>
            </a:r>
          </a:p>
          <a:p>
            <a:r>
              <a:rPr sz="1700" b="0" i="0">
                <a:solidFill>
                  <a:srgbClr val="111111"/>
                </a:solidFill>
              </a:rPr>
              <a:t>• 1 month of DeepLearning.AI pro membership</a:t>
            </a:r>
          </a:p>
          <a:p>
            <a:r>
              <a:rPr sz="1700" b="0" i="0">
                <a:solidFill>
                  <a:srgbClr val="111111"/>
                </a:solidFill>
              </a:rPr>
              <a:t>• Monthly AMD hardware sweepstakes</a:t>
            </a:r>
          </a:p>
          <a:p>
            <a:r>
              <a:rPr sz="1700" b="0" i="0">
                <a:solidFill>
                  <a:srgbClr val="111111"/>
                </a:solidFill>
              </a:rPr>
              <a:t>• Members-only Discord &amp; technical support</a:t>
            </a:r>
          </a:p>
          <a:p>
            <a:r>
              <a:rPr sz="1700" b="0" i="0">
                <a:solidFill>
                  <a:srgbClr val="111111"/>
                </a:solidFill>
              </a:rPr>
              <a:t>• Free AI Academy classes + early event invites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3575304" cy="7772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Workshop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001A"/>
                </a:solidFill>
              </a:rPr>
              <a:t>github.com/Mahdi-CV/amd-gpu-workshops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3017520"/>
            <a:ext cx="3575304" cy="7772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309067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OpenClaw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342900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001A"/>
                </a:solidFill>
              </a:rPr>
              <a:t>github.com/openclaw/openclaw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3017520"/>
            <a:ext cx="3575304" cy="7772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309067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AMD Developer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42900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001A"/>
                </a:solidFill>
              </a:rPr>
              <a:t>amd.com/en/developer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Build Your Own AI Agents ·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265efc6-e181-49d6-80f4-fae95cf838a0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3226</Words>
  <Application>Microsoft Office PowerPoint</Application>
  <PresentationFormat>Custom</PresentationFormat>
  <Paragraphs>364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Klavika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Ghodsi, Mahdi</cp:lastModifiedBy>
  <cp:revision>2</cp:revision>
  <dcterms:created xsi:type="dcterms:W3CDTF">2013-01-27T09:14:16Z</dcterms:created>
  <dcterms:modified xsi:type="dcterms:W3CDTF">2026-04-08T16:43:06Z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[Public]</vt:lpwstr>
  </property>
</Properties>
</file>